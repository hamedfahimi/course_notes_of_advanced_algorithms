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  <p:sldMasterId id="2147483696" r:id="rId2"/>
  </p:sldMasterIdLst>
  <p:notesMasterIdLst>
    <p:notesMasterId r:id="rId9"/>
  </p:notesMasterIdLst>
  <p:sldIdLst>
    <p:sldId id="256" r:id="rId3"/>
    <p:sldId id="257" r:id="rId4"/>
    <p:sldId id="316" r:id="rId5"/>
    <p:sldId id="315" r:id="rId6"/>
    <p:sldId id="259" r:id="rId7"/>
    <p:sldId id="317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0952" autoAdjust="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B35498-3BB4-41F0-A77F-7363395EADCB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773083-0F8F-41CC-8AB3-A1B1B6993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653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5AB80-140A-4A59-B7EF-16F1F3855B2E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7DF5F-4BF1-494D-A836-53F226D7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732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178AD-439D-474E-947B-B48B5CFEBC14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7DF5F-4BF1-494D-A836-53F226D7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989029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02E26-338F-47C3-B2E9-20C97BB6C196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7DF5F-4BF1-494D-A836-53F226D7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484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178AD-439D-474E-947B-B48B5CFEBC14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7DF5F-4BF1-494D-A836-53F226D7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93243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178AD-439D-474E-947B-B48B5CFEBC14}" type="datetime1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7DF5F-4BF1-494D-A836-53F226D7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201463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C292C-C43E-43B4-959D-E9C0419C1370}" type="datetime1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7DF5F-4BF1-494D-A836-53F226D7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409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104E-1255-40E0-B4D3-544566411511}" type="datetime1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7DF5F-4BF1-494D-A836-53F226D7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403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178AD-439D-474E-947B-B48B5CFEBC14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7DF5F-4BF1-494D-A836-53F226D7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120061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44C0E-7325-4433-8F4F-4DB6C77058B0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7DF5F-4BF1-494D-A836-53F226D7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756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178AD-439D-474E-947B-B48B5CFEBC14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7DF5F-4BF1-494D-A836-53F226D7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59748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178AD-439D-474E-947B-B48B5CFEBC14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7DF5F-4BF1-494D-A836-53F226D7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055942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178AD-439D-474E-947B-B48B5CFEBC14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7DF5F-4BF1-494D-A836-53F226D76E52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81165286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178AD-439D-474E-947B-B48B5CFEBC14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7DF5F-4BF1-494D-A836-53F226D7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07818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178AD-439D-474E-947B-B48B5CFEBC14}" type="datetime1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7DF5F-4BF1-494D-A836-53F226D7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253041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178AD-439D-474E-947B-B48B5CFEBC14}" type="datetime1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7DF5F-4BF1-494D-A836-53F226D7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411006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178AD-439D-474E-947B-B48B5CFEBC14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7DF5F-4BF1-494D-A836-53F226D7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076989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178AD-439D-474E-947B-B48B5CFEBC14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7DF5F-4BF1-494D-A836-53F226D7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230351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0748E-D0E1-4336-8AC8-6351C2997FC0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7DF5F-4BF1-494D-A836-53F226D7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8902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D6275-54D7-9472-F1E0-6176298492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782D90-43E1-2384-D379-6CBEF08693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0EFFC-6B1A-67A1-296E-BD6192397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B7B2-31D3-4592-BD7E-23F1B21D6422}" type="datetimeFigureOut">
              <a:rPr lang="fa-IR" smtClean="0"/>
              <a:t>22/05/1447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31655-F35E-B3E9-5FB0-4581E9E0B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F9DAA-E82C-ABEA-F0CC-B2EC06809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D9720-2190-4C85-B09B-00AAD87BE79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40528663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F2B6E-8B0A-DAE6-9113-1D7125B01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D9B47-8571-4757-56A1-35F6E7BEB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DD9A6-EF02-1D56-974E-B9495976A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B7B2-31D3-4592-BD7E-23F1B21D6422}" type="datetimeFigureOut">
              <a:rPr lang="fa-IR" smtClean="0"/>
              <a:t>22/05/1447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14A149-E666-2E79-2436-6CBB10940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F52B3-ACC1-2F49-8136-5F44B8E53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D9720-2190-4C85-B09B-00AAD87BE79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41119079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1FAE2-54F9-1914-B4FB-0B0D410C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986492-95AF-72C2-5962-6D05D31AE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09408-1F9C-92A6-3F3D-86455E446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B7B2-31D3-4592-BD7E-23F1B21D6422}" type="datetimeFigureOut">
              <a:rPr lang="fa-IR" smtClean="0"/>
              <a:t>22/05/1447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C1516-7408-AFBA-6834-002E69D19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7527D5-03A3-4B16-1BAC-01FB18191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D9720-2190-4C85-B09B-00AAD87BE79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2130002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4ADCB-5A64-5500-CD41-3CE06C78F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2001D-3151-43AF-BCD0-24E5CDA1B4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5975C9-FB28-E5EB-6308-F2D6A9A18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9F1BDE-1E2B-15B7-0975-A35A007BF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B7B2-31D3-4592-BD7E-23F1B21D6422}" type="datetimeFigureOut">
              <a:rPr lang="fa-IR" smtClean="0"/>
              <a:t>22/05/1447</a:t>
            </a:fld>
            <a:endParaRPr lang="fa-I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5314A6-075E-9DEE-30C0-A5E376B85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0F2971-9757-F8D2-7A2A-5D930FA40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D9720-2190-4C85-B09B-00AAD87BE79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7731084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B71B9-E7BF-70C4-1FBD-19454D970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D8979D-06EB-7F08-4914-ABF400009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18FE72-CEE1-A69A-089C-B25F779849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E2E4E7-7840-59CE-6408-09EC593FDE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E3C007-6F89-DF4D-0466-CBC7C75010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B300A6-815D-F584-6576-445369517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B7B2-31D3-4592-BD7E-23F1B21D6422}" type="datetimeFigureOut">
              <a:rPr lang="fa-IR" smtClean="0"/>
              <a:t>22/05/1447</a:t>
            </a:fld>
            <a:endParaRPr lang="fa-I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0931B0-3710-A352-8986-C221235FC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C9CCA5-2C8E-AB77-43CC-4CA29C351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D9720-2190-4C85-B09B-00AAD87BE79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32836464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1A6A7-863C-90C9-D1ED-20F03AAC6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951B9C-EE1E-BF56-3754-9CBCD87D5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B7B2-31D3-4592-BD7E-23F1B21D6422}" type="datetimeFigureOut">
              <a:rPr lang="fa-IR" smtClean="0"/>
              <a:t>22/05/1447</a:t>
            </a:fld>
            <a:endParaRPr lang="fa-I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BD958-34BB-A323-BA45-3EB7FB266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3E8D1D-1AF4-7D1A-444C-1A0D7DF8C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D9720-2190-4C85-B09B-00AAD87BE79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5716870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0D1F55-BEB4-DDE0-A28D-55719ECAB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B7B2-31D3-4592-BD7E-23F1B21D6422}" type="datetimeFigureOut">
              <a:rPr lang="fa-IR" smtClean="0"/>
              <a:t>22/05/1447</a:t>
            </a:fld>
            <a:endParaRPr lang="fa-I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F7D886-9182-C786-EE88-ED8836E50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BE1BDB-9103-26EE-4677-E9C68AB76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D9720-2190-4C85-B09B-00AAD87BE79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9469945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18ACC-9E09-E9CD-355F-DE5D1D6B9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0DBF6-BACE-A268-6FB9-B31CC9C81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DECA2B-1C78-80C5-CAF1-7DEA6B9DB4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EFDF40-A486-8F6B-3539-3D56B11CD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B7B2-31D3-4592-BD7E-23F1B21D6422}" type="datetimeFigureOut">
              <a:rPr lang="fa-IR" smtClean="0"/>
              <a:t>22/05/1447</a:t>
            </a:fld>
            <a:endParaRPr lang="fa-I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92A547-EDF3-FF57-04DA-C9F729560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2344D3-81A0-A56A-4CA9-90BAC43CB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D9720-2190-4C85-B09B-00AAD87BE79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5974888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9923C-957B-67B0-60A6-5AA3E5B27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343541-5588-5C94-5BB7-AE03A3386D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a-I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2E188A-A622-BE04-8485-E37BEE0A30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CA5C04-E260-B6F8-5CE4-9A344FC97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B7B2-31D3-4592-BD7E-23F1B21D6422}" type="datetimeFigureOut">
              <a:rPr lang="fa-IR" smtClean="0"/>
              <a:t>22/05/1447</a:t>
            </a:fld>
            <a:endParaRPr lang="fa-I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6FACBC-E0A7-939E-DDCD-17976BC6A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5B5D5-5C1E-D367-CA8F-4B60ED049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D9720-2190-4C85-B09B-00AAD87BE79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211406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AE22A-07D8-5475-A765-71FFABE99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17A68E-18A9-93CB-B5DC-47BB01E85F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67FC6C-1B1D-E874-9DF3-936F7AC8A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B7B2-31D3-4592-BD7E-23F1B21D6422}" type="datetimeFigureOut">
              <a:rPr lang="fa-IR" smtClean="0"/>
              <a:t>22/05/1447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5D0F3-BAD7-0B7D-DA5C-24D1A0CAC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ACB0E-44CE-718B-B2D4-DDD5E5F58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D9720-2190-4C85-B09B-00AAD87BE79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5955461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A61104-64A5-B76A-FEC3-9641D753BC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97EEF6-3234-5F03-D509-3D9FE1CB11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9C447-BB9C-0634-77B8-59B67D028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B7B2-31D3-4592-BD7E-23F1B21D6422}" type="datetimeFigureOut">
              <a:rPr lang="fa-IR" smtClean="0"/>
              <a:t>22/05/1447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E54E7-764F-4C74-6AEC-CB9E405C1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376C0-790D-D1EE-4BAF-AC0D55439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D9720-2190-4C85-B09B-00AAD87BE79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636826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872178AD-439D-474E-947B-B48B5CFEBC14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64419" y="6239483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1C7DF5F-4BF1-494D-A836-53F226D76E5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439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</p:sldLayoutIdLst>
  <p:hf hdr="0" ftr="0" dt="0"/>
  <p:txStyles>
    <p:titleStyle>
      <a:lvl1pPr algn="ct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952876-2DA5-08F5-BE44-D23198B28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1559D8-7A6C-2E0B-E19D-3BCB9F203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53741-59C4-11B5-F686-93FE46AD5D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6B7B2-31D3-4592-BD7E-23F1B21D6422}" type="datetimeFigureOut">
              <a:rPr lang="fa-IR" smtClean="0"/>
              <a:t>22/05/1447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A0F5E1-D5F0-E257-B7E5-500E414B30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55EAB-CF95-03FA-D789-536323791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FD9720-2190-4C85-B09B-00AAD87BE79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127646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a-I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4AE75E-9CDE-08E5-ACB1-1F888D53C3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54592F-BD20-3E1E-7515-7AF01E542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7DF5F-4BF1-494D-A836-53F226D76E5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20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623A05-1D21-ABE5-E272-DACC83EE8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7DF5F-4BF1-494D-A836-53F226D76E52}" type="slidenum">
              <a:rPr lang="en-US" smtClean="0"/>
              <a:t>2</a:t>
            </a:fld>
            <a:endParaRPr lang="en-US"/>
          </a:p>
        </p:txBody>
      </p:sp>
      <p:pic>
        <p:nvPicPr>
          <p:cNvPr id="2" name="Picture 1" descr="ARM.">
            <a:extLst>
              <a:ext uri="{FF2B5EF4-FFF2-40B4-BE49-F238E27FC236}">
                <a16:creationId xmlns:a16="http://schemas.microsoft.com/office/drawing/2014/main" id="{95B112E4-3473-6246-5247-C0E2DF9979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76" y="3182729"/>
            <a:ext cx="1767407" cy="132712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E676F7-AA56-6D6E-1A35-B791738F1521}"/>
              </a:ext>
            </a:extLst>
          </p:cNvPr>
          <p:cNvSpPr txBox="1"/>
          <p:nvPr/>
        </p:nvSpPr>
        <p:spPr>
          <a:xfrm>
            <a:off x="3028886" y="946778"/>
            <a:ext cx="6128090" cy="110799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4800" b="1" dirty="0">
                <a:ln>
                  <a:noFill/>
                </a:ln>
                <a:solidFill>
                  <a:srgbClr val="00B0F0"/>
                </a:solidFill>
                <a:effectLst>
                  <a:reflection blurRad="6350" stA="53000" endA="300" endPos="35500" dir="5400000" sy="-90000" algn="bl"/>
                </a:effectLst>
                <a:latin typeface="Wingdings 3" panose="05040102010807070707" pitchFamily="18" charset="2"/>
                <a:ea typeface="Calibri" panose="020F0502020204030204" pitchFamily="34" charset="0"/>
                <a:cs typeface="2  Titr" panose="00000700000000000000" pitchFamily="2" charset="-78"/>
              </a:rPr>
              <a:t>درس: الگوریتم‌های پیشرفته</a:t>
            </a:r>
            <a:br>
              <a:rPr lang="en-US" sz="1800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fa-IR" dirty="0">
              <a:solidFill>
                <a:srgbClr val="00B0F0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6DCCB7D-96AA-74B4-634E-D30ADB092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5231" y="2621046"/>
            <a:ext cx="8915400" cy="3777622"/>
          </a:xfrm>
        </p:spPr>
        <p:txBody>
          <a:bodyPr>
            <a:normAutofit fontScale="77500" lnSpcReduction="20000"/>
          </a:bodyPr>
          <a:lstStyle/>
          <a:p>
            <a:pPr marL="0" indent="0" algn="ctr" rtl="1">
              <a:lnSpc>
                <a:spcPct val="107000"/>
              </a:lnSpc>
              <a:spcAft>
                <a:spcPts val="800"/>
              </a:spcAft>
              <a:buNone/>
            </a:pPr>
            <a:r>
              <a:rPr lang="fa-IR" sz="4800" b="1" dirty="0">
                <a:ln>
                  <a:noFill/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/>
                </a:effectLst>
                <a:latin typeface="Wingdings 3" panose="05040102010807070707" pitchFamily="18" charset="2"/>
                <a:ea typeface="Calibri" panose="020F0502020204030204" pitchFamily="34" charset="0"/>
                <a:cs typeface="2  Titr" panose="00000700000000000000" pitchFamily="2" charset="-78"/>
              </a:rPr>
              <a:t>مدرس: حامد فهیمی</a:t>
            </a:r>
          </a:p>
          <a:p>
            <a:pPr marL="0" indent="0" algn="ctr" rtl="1">
              <a:lnSpc>
                <a:spcPct val="107000"/>
              </a:lnSpc>
              <a:spcAft>
                <a:spcPts val="800"/>
              </a:spcAft>
              <a:buNone/>
            </a:pPr>
            <a:endParaRPr lang="en-US" sz="48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ctr" rtl="1">
              <a:lnSpc>
                <a:spcPct val="107000"/>
              </a:lnSpc>
              <a:spcAft>
                <a:spcPts val="800"/>
              </a:spcAft>
              <a:buNone/>
            </a:pPr>
            <a:r>
              <a:rPr lang="fa-IR" sz="4800" b="1" dirty="0">
                <a:ln>
                  <a:noFill/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/>
                </a:effectLst>
                <a:latin typeface="Wingdings 3" panose="05040102010807070707" pitchFamily="18" charset="2"/>
                <a:ea typeface="Calibri" panose="020F0502020204030204" pitchFamily="34" charset="0"/>
                <a:cs typeface="2  Titr" panose="00000700000000000000" pitchFamily="2" charset="-78"/>
              </a:rPr>
              <a:t>دانشگاه فردوسی مشهد</a:t>
            </a:r>
          </a:p>
          <a:p>
            <a:pPr marL="0" indent="0" algn="ctr" rtl="1">
              <a:lnSpc>
                <a:spcPct val="107000"/>
              </a:lnSpc>
              <a:spcAft>
                <a:spcPts val="800"/>
              </a:spcAft>
              <a:buNone/>
            </a:pPr>
            <a:endParaRPr lang="en-US" sz="48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ctr" rtl="1">
              <a:lnSpc>
                <a:spcPct val="107000"/>
              </a:lnSpc>
              <a:spcAft>
                <a:spcPts val="800"/>
              </a:spcAft>
              <a:buNone/>
            </a:pPr>
            <a:r>
              <a:rPr lang="fa-IR" sz="4800" b="1" dirty="0">
                <a:ln>
                  <a:noFill/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/>
                </a:effectLst>
                <a:latin typeface="Wingdings 3" panose="05040102010807070707" pitchFamily="18" charset="2"/>
                <a:ea typeface="Calibri" panose="020F0502020204030204" pitchFamily="34" charset="0"/>
                <a:cs typeface="2  Titr" panose="00000700000000000000" pitchFamily="2" charset="-78"/>
              </a:rPr>
              <a:t>نیمسال اول تحصیلی 05-1404</a:t>
            </a:r>
            <a:endParaRPr lang="en-US" sz="48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122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B4B037-2670-185D-92CC-2E0BD4C0D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7DF5F-4BF1-494D-A836-53F226D76E52}" type="slidenum">
              <a:rPr lang="en-US" smtClean="0"/>
              <a:t>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D98547-EAD6-1E45-3D9C-71505F8A82F2}"/>
              </a:ext>
            </a:extLst>
          </p:cNvPr>
          <p:cNvSpPr txBox="1"/>
          <p:nvPr/>
        </p:nvSpPr>
        <p:spPr>
          <a:xfrm>
            <a:off x="1028634" y="2307272"/>
            <a:ext cx="10068452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3200" b="1" dirty="0">
                <a:cs typeface="B Koodak" panose="00000700000000000000" pitchFamily="2" charset="-78"/>
              </a:rPr>
              <a:t>ایمیل:</a:t>
            </a:r>
          </a:p>
          <a:p>
            <a:pPr marL="0" indent="0" algn="ctr" rtl="0">
              <a:buNone/>
            </a:pPr>
            <a:r>
              <a:rPr lang="en-US" sz="3200" u="sng" cap="none" dirty="0">
                <a:latin typeface="Mongolian Baiti" panose="03000500000000000000" pitchFamily="66" charset="0"/>
                <a:cs typeface="Mongolian Baiti" panose="03000500000000000000" pitchFamily="66" charset="0"/>
              </a:rPr>
              <a:t>hamedfahimi@um.ac.ir</a:t>
            </a:r>
            <a:endParaRPr lang="fa-IR" sz="3200" u="sng" cap="none" dirty="0">
              <a:latin typeface="Mongolian Baiti" panose="03000500000000000000" pitchFamily="66" charset="0"/>
              <a:cs typeface="+mj-cs"/>
            </a:endParaRPr>
          </a:p>
          <a:p>
            <a:pPr algn="r" rtl="1"/>
            <a:endParaRPr lang="fa-IR" sz="3200" dirty="0">
              <a:cs typeface="B Koodak" panose="00000700000000000000" pitchFamily="2" charset="-78"/>
            </a:endParaRPr>
          </a:p>
          <a:p>
            <a:pPr algn="r" rtl="1"/>
            <a:r>
              <a:rPr lang="fa-IR" sz="3200" b="1" dirty="0">
                <a:cs typeface="B Koodak" panose="00000700000000000000" pitchFamily="2" charset="-78"/>
              </a:rPr>
              <a:t>شماره تلفن همراه ارتباط با دانشجو:</a:t>
            </a:r>
          </a:p>
          <a:p>
            <a:pPr algn="ctr" rtl="1"/>
            <a:r>
              <a:rPr lang="fa-IR" sz="3200" b="1" dirty="0">
                <a:cs typeface="B Koodak" panose="00000700000000000000" pitchFamily="2" charset="-78"/>
              </a:rPr>
              <a:t> </a:t>
            </a:r>
            <a:r>
              <a:rPr lang="en-US" sz="3200" dirty="0">
                <a:latin typeface="NPINazanin" panose="02000503000000020004" pitchFamily="2" charset="0"/>
                <a:cs typeface="B Koodak" panose="00000700000000000000" pitchFamily="2" charset="-78"/>
              </a:rPr>
              <a:t>09336523185</a:t>
            </a:r>
          </a:p>
          <a:p>
            <a:pPr algn="r" rtl="1"/>
            <a:endParaRPr lang="fa-IR" sz="3200" b="1" dirty="0">
              <a:cs typeface="B Koodak" panose="00000700000000000000" pitchFamily="2" charset="-78"/>
            </a:endParaRPr>
          </a:p>
          <a:p>
            <a:pPr algn="r" rtl="1"/>
            <a:r>
              <a:rPr lang="fa-IR" sz="3200" b="1" dirty="0">
                <a:cs typeface="B Koodak" panose="00000700000000000000" pitchFamily="2" charset="-78"/>
              </a:rPr>
              <a:t>ساعات رفع اشکال:</a:t>
            </a:r>
          </a:p>
          <a:p>
            <a:pPr algn="ctr" rtl="1"/>
            <a:r>
              <a:rPr lang="fa-IR" sz="3200" dirty="0">
                <a:cs typeface="B Koodak" panose="00000700000000000000" pitchFamily="2" charset="-78"/>
              </a:rPr>
              <a:t>دوشنبه 11:30-10 (با هماهنگی قبلی)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E0E7DE-AE92-9534-D9B9-4E44752FAE59}"/>
              </a:ext>
            </a:extLst>
          </p:cNvPr>
          <p:cNvSpPr txBox="1"/>
          <p:nvPr/>
        </p:nvSpPr>
        <p:spPr>
          <a:xfrm>
            <a:off x="1671852" y="946778"/>
            <a:ext cx="8842159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fa-IR" sz="4800" b="1" dirty="0">
                <a:ln>
                  <a:noFill/>
                </a:ln>
                <a:solidFill>
                  <a:srgbClr val="00B0F0"/>
                </a:solidFill>
                <a:effectLst>
                  <a:reflection blurRad="6350" stA="53000" endA="300" endPos="35500" dir="5400000" sy="-90000" algn="bl"/>
                </a:effectLst>
                <a:latin typeface="Wingdings 3" panose="05040102010807070707" pitchFamily="18" charset="2"/>
                <a:ea typeface="Calibri" panose="020F0502020204030204" pitchFamily="34" charset="0"/>
                <a:cs typeface="2  Titr" panose="00000700000000000000" pitchFamily="2" charset="-78"/>
              </a:rPr>
              <a:t>راه ارتباطی با مدرس</a:t>
            </a:r>
            <a:endParaRPr lang="fa-IR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2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A9E0D-6941-D06E-8F9D-12F2F0039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5417"/>
            <a:ext cx="10515600" cy="5584439"/>
          </a:xfrm>
        </p:spPr>
        <p:txBody>
          <a:bodyPr>
            <a:normAutofit fontScale="92500" lnSpcReduction="10000"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"/>
            </a:pPr>
            <a:r>
              <a:rPr lang="ar-SA" sz="2400" dirty="0">
                <a:solidFill>
                  <a:srgbClr val="000000"/>
                </a:solidFill>
                <a:latin typeface="Tahoma" panose="020B060403050404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میان</a:t>
            </a:r>
            <a:r>
              <a:rPr lang="fa-IR" sz="2400" dirty="0">
                <a:solidFill>
                  <a:srgbClr val="000000"/>
                </a:solidFill>
                <a:latin typeface="Tahoma" panose="020B060403050404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‌</a:t>
            </a:r>
            <a:r>
              <a:rPr lang="ar-SA" sz="2400" dirty="0">
                <a:solidFill>
                  <a:srgbClr val="000000"/>
                </a:solidFill>
                <a:latin typeface="Tahoma" panose="020B060403050404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ترم </a:t>
            </a:r>
            <a:r>
              <a:rPr lang="fa-IR" sz="2400" dirty="0">
                <a:solidFill>
                  <a:srgbClr val="000000"/>
                </a:solidFill>
                <a:latin typeface="Tahoma" panose="020B060403050404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1 </a:t>
            </a:r>
            <a:r>
              <a:rPr lang="ar-SA" sz="2400" dirty="0">
                <a:solidFill>
                  <a:srgbClr val="000000"/>
                </a:solidFill>
                <a:latin typeface="Tahoma" panose="020B060403050404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(</a:t>
            </a:r>
            <a:r>
              <a:rPr lang="fa-IR" sz="2400" dirty="0">
                <a:solidFill>
                  <a:srgbClr val="000000"/>
                </a:solidFill>
                <a:latin typeface="Tahoma" panose="020B060403050404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15</a:t>
            </a:r>
            <a:r>
              <a:rPr lang="ar-SA" sz="2400" dirty="0">
                <a:solidFill>
                  <a:srgbClr val="000000"/>
                </a:solidFill>
                <a:latin typeface="Tahoma" panose="020B060403050404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%) 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B Titr" panose="00000700000000000000" pitchFamily="2" charset="-78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"/>
            </a:pPr>
            <a:r>
              <a:rPr lang="ar-SA" sz="2400" dirty="0">
                <a:solidFill>
                  <a:srgbClr val="000000"/>
                </a:solidFill>
                <a:latin typeface="Tahoma" panose="020B060403050404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میان</a:t>
            </a:r>
            <a:r>
              <a:rPr lang="fa-IR" sz="2400" dirty="0">
                <a:solidFill>
                  <a:srgbClr val="000000"/>
                </a:solidFill>
                <a:latin typeface="Tahoma" panose="020B060403050404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‌</a:t>
            </a:r>
            <a:r>
              <a:rPr lang="ar-SA" sz="2400" dirty="0">
                <a:solidFill>
                  <a:srgbClr val="000000"/>
                </a:solidFill>
                <a:latin typeface="Tahoma" panose="020B060403050404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ترم </a:t>
            </a:r>
            <a:r>
              <a:rPr lang="fa-IR" sz="2400" dirty="0">
                <a:solidFill>
                  <a:srgbClr val="000000"/>
                </a:solidFill>
                <a:latin typeface="Tahoma" panose="020B060403050404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2 </a:t>
            </a:r>
            <a:r>
              <a:rPr lang="ar-SA" sz="2400" dirty="0">
                <a:solidFill>
                  <a:srgbClr val="000000"/>
                </a:solidFill>
                <a:latin typeface="Tahoma" panose="020B060403050404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(</a:t>
            </a:r>
            <a:r>
              <a:rPr lang="fa-IR" sz="2400" dirty="0">
                <a:solidFill>
                  <a:srgbClr val="000000"/>
                </a:solidFill>
                <a:latin typeface="Tahoma" panose="020B060403050404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25</a:t>
            </a:r>
            <a:r>
              <a:rPr lang="ar-SA" sz="2400" dirty="0">
                <a:solidFill>
                  <a:srgbClr val="000000"/>
                </a:solidFill>
                <a:latin typeface="Tahoma" panose="020B060403050404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%) </a:t>
            </a:r>
            <a:endParaRPr lang="fa-IR" sz="2400" dirty="0">
              <a:solidFill>
                <a:srgbClr val="000000"/>
              </a:solidFill>
              <a:latin typeface="Tahoma" panose="020B0604030504040204" pitchFamily="34" charset="0"/>
              <a:ea typeface="Calibri" panose="020F0502020204030204" pitchFamily="34" charset="0"/>
              <a:cs typeface="B Titr" panose="00000700000000000000" pitchFamily="2" charset="-78"/>
            </a:endParaRP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"/>
            </a:pPr>
            <a:r>
              <a:rPr lang="fa-IR" sz="2400" dirty="0">
                <a:solidFill>
                  <a:srgbClr val="000000"/>
                </a:solidFill>
                <a:latin typeface="Tahoma" panose="020B060403050404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پایان‌ترم</a:t>
            </a:r>
            <a:r>
              <a:rPr lang="ar-SA" sz="2400" dirty="0">
                <a:solidFill>
                  <a:srgbClr val="000000"/>
                </a:solidFill>
                <a:latin typeface="Tahoma" panose="020B060403050404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 (</a:t>
            </a:r>
            <a:r>
              <a:rPr lang="fa-IR" sz="2400" dirty="0">
                <a:solidFill>
                  <a:srgbClr val="000000"/>
                </a:solidFill>
                <a:latin typeface="Tahoma" panose="020B060403050404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40</a:t>
            </a:r>
            <a:r>
              <a:rPr lang="ar-SA" sz="2400" dirty="0">
                <a:solidFill>
                  <a:srgbClr val="000000"/>
                </a:solidFill>
                <a:latin typeface="Tahoma" panose="020B060403050404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%) </a:t>
            </a:r>
            <a:endParaRPr lang="fa-IR" sz="2400" dirty="0">
              <a:solidFill>
                <a:srgbClr val="000000"/>
              </a:solidFill>
              <a:latin typeface="Tahoma" panose="020B0604030504040204" pitchFamily="34" charset="0"/>
              <a:ea typeface="Calibri" panose="020F0502020204030204" pitchFamily="34" charset="0"/>
              <a:cs typeface="B Titr" panose="00000700000000000000" pitchFamily="2" charset="-78"/>
            </a:endParaRPr>
          </a:p>
          <a:p>
            <a:pPr marL="0" lv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fa-IR" sz="2400" dirty="0">
              <a:solidFill>
                <a:srgbClr val="000000"/>
              </a:solidFill>
              <a:latin typeface="Tahoma" panose="020B0604030504040204" pitchFamily="34" charset="0"/>
              <a:ea typeface="Calibri" panose="020F0502020204030204" pitchFamily="34" charset="0"/>
              <a:cs typeface="B Titr" panose="00000700000000000000" pitchFamily="2" charset="-78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"/>
            </a:pPr>
            <a:r>
              <a:rPr lang="fa-IR" sz="2400" dirty="0">
                <a:solidFill>
                  <a:srgbClr val="000000"/>
                </a:solidFill>
                <a:latin typeface="Tahoma" panose="020B060403050404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 مباحثه انفرادی با دانشجو </a:t>
            </a:r>
            <a:r>
              <a:rPr lang="ar-SA" sz="2400" dirty="0">
                <a:solidFill>
                  <a:srgbClr val="000000"/>
                </a:solidFill>
                <a:latin typeface="Tahoma" panose="020B060403050404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(</a:t>
            </a:r>
            <a:r>
              <a:rPr lang="fa-IR" sz="2400" dirty="0">
                <a:solidFill>
                  <a:srgbClr val="000000"/>
                </a:solidFill>
                <a:latin typeface="Tahoma" panose="020B060403050404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7</a:t>
            </a:r>
            <a:r>
              <a:rPr lang="ar-SA" sz="2400" dirty="0">
                <a:solidFill>
                  <a:srgbClr val="000000"/>
                </a:solidFill>
                <a:latin typeface="Tahoma" panose="020B060403050404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%) </a:t>
            </a:r>
            <a:endParaRPr lang="fa-IR" sz="2400" dirty="0">
              <a:solidFill>
                <a:srgbClr val="000000"/>
              </a:solidFill>
              <a:latin typeface="Tahoma" panose="020B0604030504040204" pitchFamily="34" charset="0"/>
              <a:ea typeface="Calibri" panose="020F0502020204030204" pitchFamily="34" charset="0"/>
              <a:cs typeface="B Titr" panose="00000700000000000000" pitchFamily="2" charset="-78"/>
            </a:endParaRP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"/>
            </a:pPr>
            <a:r>
              <a:rPr lang="fa-IR" sz="2400" dirty="0">
                <a:solidFill>
                  <a:srgbClr val="000000"/>
                </a:solidFill>
                <a:latin typeface="Tahoma" panose="020B060403050404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پروژه و ارائه در کلاس </a:t>
            </a:r>
            <a:r>
              <a:rPr lang="ar-SA" sz="2400" dirty="0">
                <a:solidFill>
                  <a:srgbClr val="000000"/>
                </a:solidFill>
                <a:latin typeface="Tahoma" panose="020B060403050404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(</a:t>
            </a:r>
            <a:r>
              <a:rPr lang="fa-IR" sz="2400" dirty="0">
                <a:solidFill>
                  <a:srgbClr val="000000"/>
                </a:solidFill>
                <a:latin typeface="Tahoma" panose="020B060403050404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13</a:t>
            </a:r>
            <a:r>
              <a:rPr lang="ar-SA" sz="2400" dirty="0">
                <a:solidFill>
                  <a:srgbClr val="000000"/>
                </a:solidFill>
                <a:latin typeface="Tahoma" panose="020B060403050404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%) </a:t>
            </a:r>
            <a:endParaRPr lang="fa-IR" sz="2400" dirty="0">
              <a:solidFill>
                <a:srgbClr val="000000"/>
              </a:solidFill>
              <a:latin typeface="Tahoma" panose="020B0604030504040204" pitchFamily="34" charset="0"/>
              <a:ea typeface="Calibri" panose="020F0502020204030204" pitchFamily="34" charset="0"/>
              <a:cs typeface="B Titr" panose="00000700000000000000" pitchFamily="2" charset="-78"/>
            </a:endParaRPr>
          </a:p>
          <a:p>
            <a:pPr marL="0" lv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B Titr" panose="00000700000000000000" pitchFamily="2" charset="-78"/>
            </a:endParaRP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"/>
            </a:pPr>
            <a:r>
              <a:rPr lang="fa-IR" sz="2400" dirty="0">
                <a:solidFill>
                  <a:srgbClr val="000000"/>
                </a:solidFill>
                <a:latin typeface="Tahoma" panose="020B0604030504040204" pitchFamily="34" charset="0"/>
                <a:cs typeface="B Titr" panose="00000700000000000000" pitchFamily="2" charset="-78"/>
              </a:rPr>
              <a:t>مشارکت</a:t>
            </a:r>
            <a:r>
              <a:rPr lang="ar-IQ" sz="2400" dirty="0">
                <a:solidFill>
                  <a:srgbClr val="000000"/>
                </a:solidFill>
                <a:latin typeface="Tahoma" panose="020B0604030504040204" pitchFamily="34" charset="0"/>
                <a:cs typeface="B Titr" panose="00000700000000000000" pitchFamily="2" charset="-78"/>
              </a:rPr>
              <a:t> </a:t>
            </a:r>
            <a:r>
              <a:rPr lang="fa-IR" sz="2400" dirty="0">
                <a:solidFill>
                  <a:srgbClr val="000000"/>
                </a:solidFill>
                <a:latin typeface="Tahoma" panose="020B0604030504040204" pitchFamily="34" charset="0"/>
                <a:cs typeface="B Titr" panose="00000700000000000000" pitchFamily="2" charset="-78"/>
              </a:rPr>
              <a:t>و فعالیت </a:t>
            </a:r>
            <a:r>
              <a:rPr lang="ar-IQ" sz="2400" dirty="0">
                <a:solidFill>
                  <a:srgbClr val="000000"/>
                </a:solidFill>
                <a:latin typeface="Tahoma" panose="020B0604030504040204" pitchFamily="34" charset="0"/>
                <a:cs typeface="B Titr" panose="00000700000000000000" pitchFamily="2" charset="-78"/>
              </a:rPr>
              <a:t>دانشجویان در مباحث درسی</a:t>
            </a:r>
            <a:r>
              <a:rPr lang="ar-SA" sz="2400" dirty="0">
                <a:solidFill>
                  <a:srgbClr val="000000"/>
                </a:solidFill>
                <a:latin typeface="Tahoma" panose="020B060403050404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 </a:t>
            </a:r>
            <a:r>
              <a:rPr lang="fa-IR" sz="2400" dirty="0">
                <a:solidFill>
                  <a:srgbClr val="000000"/>
                </a:solidFill>
                <a:latin typeface="Tahoma" panose="020B0604030504040204" pitchFamily="34" charset="0"/>
                <a:cs typeface="B Titr" panose="00000700000000000000" pitchFamily="2" charset="-78"/>
              </a:rPr>
              <a:t> </a:t>
            </a:r>
            <a:r>
              <a:rPr lang="ar-SA" sz="2400" dirty="0">
                <a:solidFill>
                  <a:srgbClr val="000000"/>
                </a:solidFill>
                <a:latin typeface="Tahoma" panose="020B060403050404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(</a:t>
            </a:r>
            <a:r>
              <a:rPr lang="fa-IR" sz="2400" dirty="0">
                <a:solidFill>
                  <a:srgbClr val="000000"/>
                </a:solidFill>
                <a:latin typeface="Tahoma" panose="020B060403050404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5</a:t>
            </a:r>
            <a:r>
              <a:rPr lang="ar-SA" sz="2400" dirty="0">
                <a:solidFill>
                  <a:srgbClr val="000000"/>
                </a:solidFill>
                <a:latin typeface="Tahoma" panose="020B060403050404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%</a:t>
            </a:r>
            <a:r>
              <a:rPr lang="fa-IR" sz="2400" dirty="0">
                <a:solidFill>
                  <a:srgbClr val="000000"/>
                </a:solidFill>
                <a:latin typeface="Tahoma" panose="020B060403050404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 مازاد</a:t>
            </a:r>
            <a:r>
              <a:rPr lang="ar-SA" sz="2400" dirty="0">
                <a:solidFill>
                  <a:srgbClr val="000000"/>
                </a:solidFill>
                <a:latin typeface="Tahoma" panose="020B0604030504040204" pitchFamily="34" charset="0"/>
                <a:ea typeface="Calibri" panose="020F0502020204030204" pitchFamily="34" charset="0"/>
                <a:cs typeface="B Titr" panose="00000700000000000000" pitchFamily="2" charset="-78"/>
              </a:rPr>
              <a:t>) </a:t>
            </a:r>
            <a:endParaRPr lang="fa-IR" sz="2400" dirty="0">
              <a:solidFill>
                <a:srgbClr val="000000"/>
              </a:solidFill>
              <a:latin typeface="Tahoma" panose="020B0604030504040204" pitchFamily="34" charset="0"/>
              <a:ea typeface="Calibri" panose="020F0502020204030204" pitchFamily="34" charset="0"/>
              <a:cs typeface="B Titr" panose="00000700000000000000" pitchFamily="2" charset="-78"/>
            </a:endParaRP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"/>
            </a:pPr>
            <a:endParaRPr lang="fa-IR" sz="2400" dirty="0">
              <a:solidFill>
                <a:srgbClr val="000000"/>
              </a:solidFill>
              <a:latin typeface="Tahoma" panose="020B0604030504040204" pitchFamily="34" charset="0"/>
              <a:ea typeface="Calibri" panose="020F0502020204030204" pitchFamily="34" charset="0"/>
              <a:cs typeface="B Titr" panose="00000700000000000000" pitchFamily="2" charset="-78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a-IR" sz="2400" b="1" dirty="0">
                <a:solidFill>
                  <a:srgbClr val="000000"/>
                </a:solidFill>
                <a:latin typeface="Tahoma" panose="020B0604030504040204" pitchFamily="34" charset="0"/>
                <a:ea typeface="Calibri" panose="020F0502020204030204" pitchFamily="34" charset="0"/>
                <a:cs typeface="B Yas" panose="00000400000000000000" pitchFamily="2" charset="-78"/>
              </a:rPr>
              <a:t>درصدهای ارائه‌شده تقریبی بوده و ممکن است در نهایت با توجه به وضعیت کلی کلاس یا شرایط دانشجو دچار تغییراتی شوند. 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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B Titr" panose="00000700000000000000" pitchFamily="2" charset="-78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"/>
            </a:pPr>
            <a:endParaRPr lang="en-US" sz="1600" dirty="0">
              <a:cs typeface="B Nazanin" panose="00000400000000000000" pitchFamily="2" charset="-7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ECADCF-36BF-162A-CF86-12654DE9E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7DF5F-4BF1-494D-A836-53F226D76E52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8094BA-AE23-DBE7-5F62-707E99E69892}"/>
              </a:ext>
            </a:extLst>
          </p:cNvPr>
          <p:cNvSpPr txBox="1"/>
          <p:nvPr/>
        </p:nvSpPr>
        <p:spPr>
          <a:xfrm>
            <a:off x="1954567" y="184334"/>
            <a:ext cx="8282866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ar-SA" sz="3600" b="1" dirty="0">
                <a:solidFill>
                  <a:srgbClr val="00B0F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2  Titr" panose="00000700000000000000" pitchFamily="2" charset="-78"/>
              </a:rPr>
              <a:t>نحوه</a:t>
            </a:r>
            <a:r>
              <a:rPr lang="fa-IR" sz="3600" b="1" dirty="0">
                <a:solidFill>
                  <a:srgbClr val="00B0F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2  Titr" panose="00000700000000000000" pitchFamily="2" charset="-78"/>
              </a:rPr>
              <a:t> و کمیت</a:t>
            </a:r>
            <a:r>
              <a:rPr lang="ar-SA" sz="3600" b="1" dirty="0">
                <a:solidFill>
                  <a:srgbClr val="00B0F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2  Titr" panose="00000700000000000000" pitchFamily="2" charset="-78"/>
              </a:rPr>
              <a:t> ارزیابی</a:t>
            </a:r>
            <a:r>
              <a:rPr lang="fa-IR" sz="3600" b="1" dirty="0">
                <a:solidFill>
                  <a:srgbClr val="00B0F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2  Titr" panose="00000700000000000000" pitchFamily="2" charset="-78"/>
              </a:rPr>
              <a:t>‌های</a:t>
            </a:r>
            <a:r>
              <a:rPr lang="ar-SA" sz="3600" b="1" dirty="0">
                <a:solidFill>
                  <a:srgbClr val="00B0F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2  Titr" panose="00000700000000000000" pitchFamily="2" charset="-78"/>
              </a:rPr>
              <a:t> دانشجو</a:t>
            </a:r>
            <a:r>
              <a:rPr lang="fa-IR" sz="3600" b="1" dirty="0">
                <a:solidFill>
                  <a:srgbClr val="00B0F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2  Titr" panose="00000700000000000000" pitchFamily="2" charset="-78"/>
              </a:rPr>
              <a:t>یان</a:t>
            </a:r>
            <a:endParaRPr lang="fa-IR" sz="3600" dirty="0"/>
          </a:p>
        </p:txBody>
      </p:sp>
    </p:spTree>
    <p:extLst>
      <p:ext uri="{BB962C8B-B14F-4D97-AF65-F5344CB8AC3E}">
        <p14:creationId xmlns:p14="http://schemas.microsoft.com/office/powerpoint/2010/main" val="1465399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FE58F7-4A19-1022-746C-388BF840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7DF5F-4BF1-494D-A836-53F226D76E52}" type="slidenum">
              <a:rPr lang="en-US" smtClean="0"/>
              <a:t>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023266-B48B-DC3B-E8B0-133606D134FD}"/>
              </a:ext>
            </a:extLst>
          </p:cNvPr>
          <p:cNvSpPr txBox="1"/>
          <p:nvPr/>
        </p:nvSpPr>
        <p:spPr>
          <a:xfrm>
            <a:off x="4511553" y="28508"/>
            <a:ext cx="3168894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ar-SA" sz="3600" b="1" dirty="0">
                <a:solidFill>
                  <a:srgbClr val="00B0F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2  Titr" panose="00000700000000000000" pitchFamily="2" charset="-78"/>
              </a:rPr>
              <a:t>مر</a:t>
            </a:r>
            <a:r>
              <a:rPr lang="fa-IR" sz="3600" b="1" dirty="0">
                <a:solidFill>
                  <a:srgbClr val="00B0F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2  Titr" panose="00000700000000000000" pitchFamily="2" charset="-78"/>
              </a:rPr>
              <a:t>ا</a:t>
            </a:r>
            <a:r>
              <a:rPr lang="ar-SA" sz="3600" b="1" dirty="0">
                <a:solidFill>
                  <a:srgbClr val="00B0F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2  Titr" panose="00000700000000000000" pitchFamily="2" charset="-78"/>
              </a:rPr>
              <a:t>جع درسی </a:t>
            </a:r>
            <a:endParaRPr lang="fa-IR" sz="3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9F02D5-EDF4-8EAA-DC55-E352852C23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009" y="939567"/>
            <a:ext cx="4653327" cy="52999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21752CB-07DA-3D59-D910-BE1FB8B21E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68839" y="1048624"/>
            <a:ext cx="4231205" cy="519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352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FE58F7-4A19-1022-746C-388BF840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7DF5F-4BF1-494D-A836-53F226D76E52}" type="slidenum">
              <a:rPr lang="en-US" smtClean="0"/>
              <a:t>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023266-B48B-DC3B-E8B0-133606D134FD}"/>
              </a:ext>
            </a:extLst>
          </p:cNvPr>
          <p:cNvSpPr txBox="1"/>
          <p:nvPr/>
        </p:nvSpPr>
        <p:spPr>
          <a:xfrm>
            <a:off x="4511553" y="28508"/>
            <a:ext cx="3168894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ar-SA" sz="3600" b="1" dirty="0">
                <a:solidFill>
                  <a:srgbClr val="00B0F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2  Titr" panose="00000700000000000000" pitchFamily="2" charset="-78"/>
              </a:rPr>
              <a:t>مر</a:t>
            </a:r>
            <a:r>
              <a:rPr lang="fa-IR" sz="3600" b="1" dirty="0">
                <a:solidFill>
                  <a:srgbClr val="00B0F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2  Titr" panose="00000700000000000000" pitchFamily="2" charset="-78"/>
              </a:rPr>
              <a:t>ا</a:t>
            </a:r>
            <a:r>
              <a:rPr lang="ar-SA" sz="3600" b="1" dirty="0">
                <a:solidFill>
                  <a:srgbClr val="00B0F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2  Titr" panose="00000700000000000000" pitchFamily="2" charset="-78"/>
              </a:rPr>
              <a:t>جع درسی </a:t>
            </a:r>
            <a:endParaRPr lang="fa-IR" sz="3600" dirty="0"/>
          </a:p>
        </p:txBody>
      </p:sp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CDB7E8D3-9395-8445-7828-035D4A1146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24630" y="1061434"/>
            <a:ext cx="4440729" cy="5132746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34B48E-2374-989C-3DC1-C07F42F201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526" y="1001420"/>
            <a:ext cx="4537870" cy="519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139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2284</TotalTime>
  <Words>138</Words>
  <Application>Microsoft Office PowerPoint</Application>
  <PresentationFormat>Widescreen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Arial</vt:lpstr>
      <vt:lpstr>Calibri</vt:lpstr>
      <vt:lpstr>Calibri Light</vt:lpstr>
      <vt:lpstr>Mongolian Baiti</vt:lpstr>
      <vt:lpstr>NPINazanin</vt:lpstr>
      <vt:lpstr>Tahoma</vt:lpstr>
      <vt:lpstr>Tw Cen MT</vt:lpstr>
      <vt:lpstr>Wingdings</vt:lpstr>
      <vt:lpstr>Wingdings 3</vt:lpstr>
      <vt:lpstr>Droplet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Hamed Fahimi</dc:creator>
  <cp:lastModifiedBy>Hamed Fahimi</cp:lastModifiedBy>
  <cp:revision>727</cp:revision>
  <dcterms:created xsi:type="dcterms:W3CDTF">2025-02-03T12:14:52Z</dcterms:created>
  <dcterms:modified xsi:type="dcterms:W3CDTF">2025-11-12T04:33:55Z</dcterms:modified>
</cp:coreProperties>
</file>